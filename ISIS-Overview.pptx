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943600" cy="5943600"/>
          </a:xfrm>
          <a:prstGeom prst="ellipse">
            <a:avLst/>
          </a:prstGeom>
          <a:solidFill>
            <a:srgbClr val="E23E5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5486400" cy="5486400"/>
          </a:xfrm>
          <a:prstGeom prst="ellipse">
            <a:avLst/>
          </a:prstGeom>
          <a:solidFill>
            <a:srgbClr val="1D787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3291840"/>
            <a:ext cx="2926080" cy="2926080"/>
          </a:xfrm>
          <a:prstGeom prst="ellipse">
            <a:avLst/>
          </a:prstGeom>
          <a:solidFill>
            <a:srgbClr val="7B5EA7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196596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ISIS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0" y="324612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8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Understand.  Protect.  Restore.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397764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ISIS turns health information into personalized action.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37760" y="4617720"/>
            <a:ext cx="2286000" cy="0"/>
          </a:xfrm>
          <a:prstGeom prst="line">
            <a:avLst/>
          </a:prstGeom>
          <a:noFill/>
          <a:ln w="25400">
            <a:solidFill>
              <a:srgbClr val="C989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B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Health-information intelligence  •  Adaptive wellness support  •  Privacy-first architecture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4572000" cy="4572000"/>
          </a:xfrm>
          <a:prstGeom prst="ellipse">
            <a:avLst/>
          </a:prstGeom>
          <a:solidFill>
            <a:srgbClr val="C9891A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information is written for doctors — not for the people who live with it.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DF8"/>
          </a:solidFill>
          <a:ln w="12700">
            <a:solidFill>
              <a:srgbClr val="F1E9D8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3D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956816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jargon-heavy documents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95728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and discharge notes get "explained" but rarely turn into something people actually follow.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DF8"/>
          </a:solidFill>
          <a:ln w="12700">
            <a:solidFill>
              <a:srgbClr val="F1E9D8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3D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44568" y="1956816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that don't land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44568" y="2395728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medications and appointments repeat the same frustration for both patients and caregivers.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82880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DF8"/>
          </a:solidFill>
          <a:ln w="12700">
            <a:solidFill>
              <a:srgbClr val="F1E9D8"/>
            </a:solidFill>
            <a:prstDash val="solid"/>
          </a:ln>
          <a:effectLst>
            <a:outerShdw sx="100000" sy="100000" kx="0" ky="0" algn="bl" rotWithShape="0" blurRad="101600" dist="38100" dir="5400000">
              <a:srgbClr val="241F3D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39328" y="1956816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Caring from a distance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39328" y="2395728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often live in another city, worrying whether a loved one is really okay.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0965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ISIS turns health information into personalized action.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8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Understand → Personalize → Act → Support → Learn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E23E5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148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816352" y="507492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7B5EA7"/>
          </a:solidFill>
          <a:ln/>
        </p:spPr>
      </p:sp>
      <p:sp>
        <p:nvSpPr>
          <p:cNvPr id="21" name="Text 19"/>
          <p:cNvSpPr/>
          <p:nvPr/>
        </p:nvSpPr>
        <p:spPr>
          <a:xfrm>
            <a:off x="2953512" y="5148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07792" y="54406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84064" y="507492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C9891A"/>
          </a:solidFill>
          <a:ln/>
        </p:spPr>
      </p:sp>
      <p:sp>
        <p:nvSpPr>
          <p:cNvPr id="24" name="Text 22"/>
          <p:cNvSpPr/>
          <p:nvPr/>
        </p:nvSpPr>
        <p:spPr>
          <a:xfrm>
            <a:off x="5221224" y="5148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75504" y="54406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51776" y="507492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1D7874"/>
          </a:solidFill>
          <a:ln/>
        </p:spPr>
      </p:sp>
      <p:sp>
        <p:nvSpPr>
          <p:cNvPr id="27" name="Text 25"/>
          <p:cNvSpPr/>
          <p:nvPr/>
        </p:nvSpPr>
        <p:spPr>
          <a:xfrm>
            <a:off x="7488936" y="5148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43216" y="54406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619488" y="5074920"/>
            <a:ext cx="2084832" cy="1051560"/>
          </a:xfrm>
          <a:prstGeom prst="roundRect">
            <a:avLst>
              <a:gd name="adj" fmla="val 6957"/>
            </a:avLst>
          </a:prstGeom>
          <a:solidFill>
            <a:srgbClr val="C9707D"/>
          </a:solidFill>
          <a:ln/>
        </p:spPr>
      </p:sp>
      <p:sp>
        <p:nvSpPr>
          <p:cNvPr id="30" name="Text 28"/>
          <p:cNvSpPr/>
          <p:nvPr/>
        </p:nvSpPr>
        <p:spPr>
          <a:xfrm>
            <a:off x="9756648" y="5148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710928" y="54406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505456" y="5440680"/>
            <a:ext cx="256032" cy="256032"/>
          </a:xfrm>
          <a:prstGeom prst="ellipse">
            <a:avLst/>
          </a:prstGeom>
          <a:solidFill>
            <a:srgbClr val="FAF6EF"/>
          </a:solidFill>
          <a:ln w="12700">
            <a:solidFill>
              <a:srgbClr val="F1E9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05456" y="5404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73168" y="5440680"/>
            <a:ext cx="256032" cy="256032"/>
          </a:xfrm>
          <a:prstGeom prst="ellipse">
            <a:avLst/>
          </a:prstGeom>
          <a:solidFill>
            <a:srgbClr val="FAF6EF"/>
          </a:solidFill>
          <a:ln w="12700">
            <a:solidFill>
              <a:srgbClr val="F1E9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5404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040880" y="5440680"/>
            <a:ext cx="256032" cy="256032"/>
          </a:xfrm>
          <a:prstGeom prst="ellipse">
            <a:avLst/>
          </a:prstGeom>
          <a:solidFill>
            <a:srgbClr val="FAF6EF"/>
          </a:solidFill>
          <a:ln w="12700">
            <a:solidFill>
              <a:srgbClr val="F1E9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5404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308592" y="5440680"/>
            <a:ext cx="256032" cy="256032"/>
          </a:xfrm>
          <a:prstGeom prst="ellipse">
            <a:avLst/>
          </a:prstGeom>
          <a:solidFill>
            <a:srgbClr val="FAF6EF"/>
          </a:solidFill>
          <a:ln w="12700">
            <a:solidFill>
              <a:srgbClr val="F1E9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08592" y="5404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7B5EA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loop, not four separate apps.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DF8"/>
          </a:solidFill>
          <a:ln w="12700">
            <a:solidFill>
              <a:srgbClr val="F1E9D8"/>
            </a:solidFill>
            <a:prstDash val="solid"/>
          </a:ln>
          <a:effectLst>
            <a:outerShdw sx="100000" sy="100000" kx="0" ky="0" algn="bl" rotWithShape="0" blurRad="76200" dist="25400" dir="5400000">
              <a:srgbClr val="241F3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46504"/>
            <a:ext cx="329184" cy="329184"/>
          </a:xfrm>
          <a:prstGeom prst="ellipse">
            <a:avLst/>
          </a:prstGeom>
          <a:solidFill>
            <a:srgbClr val="C9707D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16712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Vault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73405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prescriptions &amp; instructions → source-cited medication plans.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1600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DF8"/>
          </a:solidFill>
          <a:ln w="12700">
            <a:solidFill>
              <a:srgbClr val="F1E9D8"/>
            </a:solidFill>
            <a:prstDash val="solid"/>
          </a:ln>
          <a:effectLst>
            <a:outerShdw sx="100000" sy="100000" kx="0" ky="0" algn="bl" rotWithShape="0" blurRad="76200" dist="25400" dir="5400000">
              <a:srgbClr val="241F3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9584" y="1746504"/>
            <a:ext cx="329184" cy="329184"/>
          </a:xfrm>
          <a:prstGeom prst="ellipse">
            <a:avLst/>
          </a:prstGeom>
          <a:solidFill>
            <a:srgbClr val="E23E57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216712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Why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29584" y="273405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links to its literal source quote — or is marked unverified.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DF8"/>
          </a:solidFill>
          <a:ln w="12700">
            <a:solidFill>
              <a:srgbClr val="F1E9D8"/>
            </a:solidFill>
            <a:prstDash val="solid"/>
          </a:ln>
          <a:effectLst>
            <a:outerShdw sx="100000" sy="100000" kx="0" ky="0" algn="bl" rotWithShape="0" blurRad="76200" dist="25400" dir="5400000">
              <a:srgbClr val="241F3D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45936" y="1746504"/>
            <a:ext cx="329184" cy="329184"/>
          </a:xfrm>
          <a:prstGeom prst="ellipse">
            <a:avLst/>
          </a:prstGeom>
          <a:solidFill>
            <a:srgbClr val="C9891A"/>
          </a:solidFill>
          <a:ln/>
        </p:spPr>
      </p:sp>
      <p:sp>
        <p:nvSpPr>
          <p:cNvPr id="15" name="Text 13"/>
          <p:cNvSpPr/>
          <p:nvPr/>
        </p:nvSpPr>
        <p:spPr>
          <a:xfrm>
            <a:off x="6345936" y="216712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This Part of My Day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45936" y="273405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turns any instruction into a tracked daily action.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97696" y="1600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DF8"/>
          </a:solidFill>
          <a:ln w="12700">
            <a:solidFill>
              <a:srgbClr val="F1E9D8"/>
            </a:solidFill>
            <a:prstDash val="solid"/>
          </a:ln>
          <a:effectLst>
            <a:outerShdw sx="100000" sy="100000" kx="0" ky="0" algn="bl" rotWithShape="0" blurRad="76200" dist="25400" dir="5400000">
              <a:srgbClr val="241F3D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62288" y="1746504"/>
            <a:ext cx="329184" cy="329184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19" name="Text 17"/>
          <p:cNvSpPr/>
          <p:nvPr/>
        </p:nvSpPr>
        <p:spPr>
          <a:xfrm>
            <a:off x="9162288" y="216712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Brief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62288" y="273405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prioritized summary instead of scattered notifications.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DF8"/>
          </a:solidFill>
          <a:ln w="12700">
            <a:solidFill>
              <a:srgbClr val="F1E9D8"/>
            </a:solidFill>
            <a:prstDash val="solid"/>
          </a:ln>
          <a:effectLst>
            <a:outerShdw sx="100000" sy="100000" kx="0" ky="0" algn="bl" rotWithShape="0" blurRad="76200" dist="25400" dir="5400000">
              <a:srgbClr val="241F3D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" y="3895344"/>
            <a:ext cx="329184" cy="329184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31596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Wellness Intervention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3232" y="488289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structured resets triggered at the right moment.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64992" y="374904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DF8"/>
          </a:solidFill>
          <a:ln w="12700">
            <a:solidFill>
              <a:srgbClr val="F1E9D8"/>
            </a:solidFill>
            <a:prstDash val="solid"/>
          </a:ln>
          <a:effectLst>
            <a:outerShdw sx="100000" sy="100000" kx="0" ky="0" algn="bl" rotWithShape="0" blurRad="76200" dist="25400" dir="5400000">
              <a:srgbClr val="241F3D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29584" y="3895344"/>
            <a:ext cx="329184" cy="329184"/>
          </a:xfrm>
          <a:prstGeom prst="ellipse">
            <a:avLst/>
          </a:prstGeom>
          <a:solidFill>
            <a:srgbClr val="C9707D"/>
          </a:solidFill>
          <a:ln/>
        </p:spPr>
      </p:sp>
      <p:sp>
        <p:nvSpPr>
          <p:cNvPr id="27" name="Text 25"/>
          <p:cNvSpPr/>
          <p:nvPr/>
        </p:nvSpPr>
        <p:spPr>
          <a:xfrm>
            <a:off x="3529584" y="431596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529584" y="488289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preference scores — ISIS learns what actually helps you.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81344" y="374904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DF8"/>
          </a:solidFill>
          <a:ln w="12700">
            <a:solidFill>
              <a:srgbClr val="F1E9D8"/>
            </a:solidFill>
            <a:prstDash val="solid"/>
          </a:ln>
          <a:effectLst>
            <a:outerShdw sx="100000" sy="100000" kx="0" ky="0" algn="bl" rotWithShape="0" blurRad="76200" dist="25400" dir="5400000">
              <a:srgbClr val="241F3D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45936" y="3895344"/>
            <a:ext cx="329184" cy="329184"/>
          </a:xfrm>
          <a:prstGeom prst="ellipse">
            <a:avLst/>
          </a:prstGeom>
          <a:solidFill>
            <a:srgbClr val="E23E57"/>
          </a:solidFill>
          <a:ln/>
        </p:spPr>
      </p:sp>
      <p:sp>
        <p:nvSpPr>
          <p:cNvPr id="31" name="Text 29"/>
          <p:cNvSpPr/>
          <p:nvPr/>
        </p:nvSpPr>
        <p:spPr>
          <a:xfrm>
            <a:off x="6345936" y="431596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Adaptation Profile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45936" y="488289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Simple/detailed, voice/text, visual/plain — same facts, different delivery.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97696" y="374904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DF8"/>
          </a:solidFill>
          <a:ln w="12700">
            <a:solidFill>
              <a:srgbClr val="F1E9D8"/>
            </a:solidFill>
            <a:prstDash val="solid"/>
          </a:ln>
          <a:effectLst>
            <a:outerShdw sx="100000" sy="100000" kx="0" ky="0" algn="bl" rotWithShape="0" blurRad="76200" dist="25400" dir="5400000">
              <a:srgbClr val="241F3D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62288" y="3895344"/>
            <a:ext cx="329184" cy="329184"/>
          </a:xfrm>
          <a:prstGeom prst="ellipse">
            <a:avLst/>
          </a:prstGeom>
          <a:solidFill>
            <a:srgbClr val="1D7874"/>
          </a:solidFill>
          <a:ln/>
        </p:spPr>
      </p:sp>
      <p:sp>
        <p:nvSpPr>
          <p:cNvPr id="35" name="Text 33"/>
          <p:cNvSpPr/>
          <p:nvPr/>
        </p:nvSpPr>
        <p:spPr>
          <a:xfrm>
            <a:off x="9162288" y="4315968"/>
            <a:ext cx="2340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4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Center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162288" y="4882896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stored; clear, delete, or forget it — for real.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4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Built with: React + Tailwind  ·  Claude API via server-side proxy  ·  Recharts  ·  Web Speech API  ·  Notification API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029200" cy="5029200"/>
          </a:xfrm>
          <a:prstGeom prst="ellipse">
            <a:avLst/>
          </a:prstGeom>
          <a:solidFill>
            <a:srgbClr val="1D7874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1188720"/>
            <a:ext cx="4572000" cy="4572000"/>
          </a:xfrm>
          <a:prstGeom prst="ellipse">
            <a:avLst/>
          </a:prstGeom>
          <a:solidFill>
            <a:srgbClr val="E23E5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E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people who care for each other — even from far away.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70048" cy="1554480"/>
          </a:xfrm>
          <a:prstGeom prst="roundRect">
            <a:avLst>
              <a:gd name="adj" fmla="val 5294"/>
            </a:avLst>
          </a:prstGeom>
          <a:solidFill>
            <a:srgbClr val="211D2E"/>
          </a:solidFill>
          <a:ln w="15875">
            <a:solidFill>
              <a:srgbClr val="C970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476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9707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individuals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87752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prescriptions, appointments, and care instructions.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01568" y="1783080"/>
            <a:ext cx="2670048" cy="1554480"/>
          </a:xfrm>
          <a:prstGeom prst="roundRect">
            <a:avLst>
              <a:gd name="adj" fmla="val 5294"/>
            </a:avLst>
          </a:prstGeom>
          <a:solidFill>
            <a:srgbClr val="211D2E"/>
          </a:solidFill>
          <a:ln w="15875">
            <a:solidFill>
              <a:srgbClr val="C989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4448" y="19476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C9891A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2148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caregivers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84448" y="2587752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living remotely, wanting real peace of mind about a loved one.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54496" y="1783080"/>
            <a:ext cx="2670048" cy="1554480"/>
          </a:xfrm>
          <a:prstGeom prst="roundRect">
            <a:avLst>
              <a:gd name="adj" fmla="val 5294"/>
            </a:avLst>
          </a:prstGeom>
          <a:solidFill>
            <a:srgbClr val="211D2E"/>
          </a:solidFill>
          <a:ln w="15875">
            <a:solidFill>
              <a:srgbClr val="1D78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7376" y="19476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D78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2148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chronic conditions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37376" y="2587752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receive frequent, dense medical documentation.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07424" y="1783080"/>
            <a:ext cx="2670048" cy="1554480"/>
          </a:xfrm>
          <a:prstGeom prst="roundRect">
            <a:avLst>
              <a:gd name="adj" fmla="val 5294"/>
            </a:avLst>
          </a:prstGeom>
          <a:solidFill>
            <a:srgbClr val="211D2E"/>
          </a:solidFill>
          <a:ln w="15875">
            <a:solidFill>
              <a:srgbClr val="7B5E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90304" y="19476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/>
        </p:spPr>
      </p:sp>
      <p:sp>
        <p:nvSpPr>
          <p:cNvPr id="20" name="Text 18"/>
          <p:cNvSpPr/>
          <p:nvPr/>
        </p:nvSpPr>
        <p:spPr>
          <a:xfrm>
            <a:off x="9290304" y="214884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accessibility needs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90304" y="2587752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 from adaptive, personalized explanations.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11064240" cy="0"/>
          </a:xfrm>
          <a:prstGeom prst="line">
            <a:avLst/>
          </a:prstGeom>
          <a:noFill/>
          <a:ln w="12700">
            <a:solidFill>
              <a:srgbClr val="3A35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60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distance shouldn't mean being unable to care.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information. Different way of understanding it.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3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pPr algn="ctr" indent="0" marL="0">
              <a:buNone/>
            </a:pPr>
            <a:r>
              <a:rPr lang="en-US" sz="1200" dirty="0">
                <a:solidFill>
                  <a:srgbClr val="C7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AI understands health information      </a:t>
            </a:r>
            <a:pPr algn="ctr" indent="0" marL="0">
              <a:buNone/>
            </a:pPr>
            <a:r>
              <a:rPr lang="en-US" sz="1200" b="1" dirty="0">
                <a:solidFill>
                  <a:srgbClr val="1D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pPr algn="ctr" indent="0" marL="0">
              <a:buNone/>
            </a:pPr>
            <a:r>
              <a:rPr lang="en-US" sz="1200" dirty="0">
                <a:solidFill>
                  <a:srgbClr val="C7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privacy + source verification      </a:t>
            </a:r>
            <a:pPr algn="ctr" indent="0" marL="0">
              <a:buNone/>
            </a:pPr>
            <a:r>
              <a:rPr lang="en-US" sz="1200" b="1" dirty="0">
                <a:solidFill>
                  <a:srgbClr val="C9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</a:t>
            </a:r>
            <a:pPr algn="ctr" indent="0" marL="0">
              <a:buNone/>
            </a:pPr>
            <a:r>
              <a:rPr lang="en-US" sz="1200" dirty="0">
                <a:solidFill>
                  <a:srgbClr val="C7C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personalized wellness intervention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2026-08-16T16:34:12Z</dcterms:created>
  <dcterms:modified xsi:type="dcterms:W3CDTF">2026-08-16T16:34:12Z</dcterms:modified>
</cp:coreProperties>
</file>